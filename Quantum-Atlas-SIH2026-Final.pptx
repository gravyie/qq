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Problem Statement ID – 26164</a:t>
            </a:r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Enterprise Cryptographic Discovery &amp; Analysis Tool (ECDAT)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– Blockchain &amp; Cybersecurity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 – TBD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Namo Coders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QUANTUM ATLAS — ECDAT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57200" y="1417320"/>
            <a:ext cx="6309360" cy="466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sz="1700" b="1">
                <a:latin typeface="Arial"/>
              </a:rPr>
              <a:t>▸ Clause i — catalogue everything: </a:t>
            </a:r>
            <a:r>
              <a:rPr sz="1700">
                <a:latin typeface="Arial"/>
              </a:rPr>
              <a:t>discovers algorithms, keys, certificates, protocols, libraries, hardware modules and cloud services across apps, products and infra; every finding carries file:line evidence.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latin typeface="Arial"/>
              </a:rPr>
              <a:t>▸ Clause ii — quantum risk assessment: </a:t>
            </a:r>
            <a:r>
              <a:rPr sz="1700">
                <a:latin typeface="Arial"/>
              </a:rPr>
              <a:t>112-algorithm knowledge base classifies Shor-broken / Grover-weakened / safe; Mosca X+Y&gt;Z flags harvest-now-decrypt-later data and systems prone to quantum attack.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latin typeface="Arial"/>
              </a:rPr>
              <a:t>▸ Clause iii — classify: </a:t>
            </a:r>
            <a:r>
              <a:rPr sz="1700">
                <a:latin typeface="Arial"/>
              </a:rPr>
              <a:t>every artefact typed by class, lifetime (cert windows → path signals → defaults, capped + disclosed) and business criticality, with Mosca risk categories.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latin typeface="Arial"/>
              </a:rPr>
              <a:t>▸ Clause iv — recommend alternatives: </a:t>
            </a:r>
            <a:r>
              <a:rPr sz="1700">
                <a:latin typeface="Arial"/>
              </a:rPr>
              <a:t>constraint-aware advisor proposes PQC / hybrid replacements scored on risk profile, wire/latency and CPU cost across 8 workload profiles.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latin typeface="Arial"/>
              </a:rPr>
              <a:t>▸ Deliverables: </a:t>
            </a:r>
            <a:r>
              <a:rPr sz="1700">
                <a:latin typeface="Arial"/>
              </a:rPr>
              <a:t>standardised CBOM report with versions + modes (CycloneDX 1.6, SARIF, Markdown) plus an interactive GUI to visualise scan, risks and results — and a CI gate so new crypto debt is blocked.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Namo Coders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03-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417320"/>
            <a:ext cx="4663440" cy="2926080"/>
          </a:xfrm>
          <a:prstGeom prst="rect">
            <a:avLst/>
          </a:prstGeom>
        </p:spPr>
      </p:pic>
      <p:sp>
        <p:nvSpPr>
          <p:cNvPr id="15364" name="TextBox 15363"/>
          <p:cNvSpPr txBox="1"/>
          <p:nvPr/>
        </p:nvSpPr>
        <p:spPr>
          <a:xfrm>
            <a:off x="7040880" y="44348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95959"/>
                </a:solidFill>
                <a:latin typeface="Arial"/>
              </a:rPr>
              <a:t>Overview: KPIs, severity mix, criticality × impact heatmap — live product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417320"/>
            <a:ext cx="6309360" cy="466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700" b="1">
                <a:latin typeface="Arial"/>
              </a:rPr>
              <a:t>▸ Discovery (backend/atlas): </a:t>
            </a:r>
            <a:r>
              <a:rPr sz="1700">
                <a:latin typeface="Arial"/>
              </a:rPr>
              <a:t>Python/FastAPI ScanEngine; 8 scanners — ~90 source regexes over 16 languages, tolerant X.509 + key parsing, manifests/IaC, docker-tar walk (no daemon), binary markers, live TLS prober.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latin typeface="Arial"/>
              </a:rPr>
              <a:t>▸ Risk (pure functions): </a:t>
            </a:r>
            <a:r>
              <a:rPr sz="1700">
                <a:latin typeface="Arial"/>
              </a:rPr>
              <a:t>impact → shelf-life → Mosca → 0–10 severity → recommendation; re-simulation over stored JSON, never a rescan.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latin typeface="Arial"/>
              </a:rPr>
              <a:t>▸ Console: </a:t>
            </a:r>
            <a:r>
              <a:rPr sz="1700">
                <a:latin typeface="Arial"/>
              </a:rPr>
              <a:t>React 19 + Vite, SSE finding stream, hand-rolled SVG charts; prod bundle served same-origin; CLI (10 cmds) + REST API share the engine.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latin typeface="Arial"/>
              </a:rPr>
              <a:t>▸ Quality: </a:t>
            </a:r>
            <a:r>
              <a:rPr sz="1700">
                <a:latin typeface="Arial"/>
              </a:rPr>
              <a:t>200+ backend tests incl. CycloneDX/SARIF schema conformance; clean typecheck; verified CI exits both ways.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Namo Coders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05-simula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417320"/>
            <a:ext cx="4663440" cy="2926080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7040880" y="44348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95959"/>
                </a:solidFill>
                <a:latin typeface="Arial"/>
              </a:rPr>
              <a:t>Mosca simulator: sliders, presets, violations curve — live product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417320"/>
            <a:ext cx="6309360" cy="466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700" b="1">
                <a:latin typeface="Arial"/>
              </a:rPr>
              <a:t>▸ Proven at scale: </a:t>
            </a:r>
            <a:r>
              <a:rPr sz="1700">
                <a:latin typeface="Arial"/>
              </a:rPr>
              <a:t>demo bank estate — 101 artefacts, 34 files, sub-second; real OSS repos (paramiko, pyca/cryptography, pyjwt) — 2,597 artefacts, 1,412 files, 6.8s.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latin typeface="Arial"/>
              </a:rPr>
              <a:t>▸ Proven on the wire: </a:t>
            </a:r>
            <a:r>
              <a:rPr sz="1700">
                <a:latin typeface="Arial"/>
              </a:rPr>
              <a:t>cloudflare.com negotiates X25519MLKEM768 hybrid PQC with a classical ECDSA P-256 cert — measured, not assumed.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latin typeface="Arial"/>
              </a:rPr>
              <a:t>▸ Risk → mitigation: </a:t>
            </a:r>
            <a:r>
              <a:rPr sz="1700">
                <a:latin typeface="Arial"/>
              </a:rPr>
              <a:t>CRQC date unknowable → simulator + sensitivity curve instead of a hardcoded year; recall limits → tolerant parsers, OID preservation, stated gaps; local-only today → auth + path allow-listing before exposure.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Namo Coders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04-inven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417320"/>
            <a:ext cx="4663440" cy="2926080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7040880" y="44348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95959"/>
                </a:solidFill>
                <a:latin typeface="Arial"/>
              </a:rPr>
              <a:t>Inventory: faceted artefacts with evidence drawer — live product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417320"/>
            <a:ext cx="6309360" cy="466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700" b="1">
                <a:latin typeface="Arial"/>
              </a:rPr>
              <a:t>▸ For NTRO / mission estates: </a:t>
            </a:r>
            <a:r>
              <a:rPr sz="1700">
                <a:latin typeface="Arial"/>
              </a:rPr>
              <a:t>estate-wide crypto inventory with per-team attribution; HNDL triage before the CRQC; funded waves with finish-vs-horizon verdicts (demo: 1,443 engineer-days, 10 violations).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latin typeface="Arial"/>
              </a:rPr>
              <a:t>▸ Compliance + prevention: </a:t>
            </a:r>
            <a:r>
              <a:rPr sz="1700">
                <a:latin typeface="Arial"/>
              </a:rPr>
              <a:t>assessed against CNSA 2.0, NIST IR 8547, SP 800-131A; CI gate stops new crypto debt; PQC pilot service passes the critical gate.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latin typeface="Arial"/>
              </a:rPr>
              <a:t>▸ Strategic benefit: </a:t>
            </a:r>
            <a:r>
              <a:rPr sz="1700">
                <a:latin typeface="Arial"/>
              </a:rPr>
              <a:t>quantum-readiness roadmap for financial and national infrastructure — mythology-free, assumption-explicit, auditable.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Namo Coders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06-road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417320"/>
            <a:ext cx="4663440" cy="2926080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7040880" y="44348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95959"/>
                </a:solidFill>
                <a:latin typeface="Arial"/>
              </a:rPr>
              <a:t>Roadmap: dependency-ordered waves vs CRQC horizon — live product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417320"/>
            <a:ext cx="6309360" cy="466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700" b="1">
                <a:latin typeface="Arial"/>
              </a:rPr>
              <a:t>▸ Threat model: </a:t>
            </a:r>
            <a:r>
              <a:rPr sz="1700">
                <a:latin typeface="Arial"/>
              </a:rPr>
              <a:t>Mosca &amp; Piani — Quantum Threat Timeline (X+Y&gt;Z); NIST IR 8547 (draft); NSA CNSA 2.0; NIST SP 800-131A Rev.2.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latin typeface="Arial"/>
              </a:rPr>
              <a:t>▸ PQC standards: </a:t>
            </a:r>
            <a:r>
              <a:rPr sz="1700">
                <a:latin typeface="Arial"/>
              </a:rPr>
              <a:t>FIPS 203 (ML-KEM), FIPS 204 (ML-DSA), FIPS 205 (SLH-DSA); hybrid deployments (X25519MLKEM768) as observed live.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latin typeface="Arial"/>
              </a:rPr>
              <a:t>▸ Output standards: </a:t>
            </a:r>
            <a:r>
              <a:rPr sz="1700">
                <a:latin typeface="Arial"/>
              </a:rPr>
              <a:t>CycloneDX 1.6 CBOM (OWASP); SARIF 2.1.0 (OASIS); evaluated code: paramiko, pyca/cryptography, pyjwt.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Namo Coders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08-knowle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417320"/>
            <a:ext cx="4663440" cy="2926080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7040880" y="44348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95959"/>
                </a:solidFill>
                <a:latin typeface="Arial"/>
              </a:rPr>
              <a:t>Knowledge base: 112 algorithms + cipher resolver — live product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