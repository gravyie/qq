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D6F81"/>
                </a:solidFill>
                <a:latin typeface="Consolas"/>
              </a:defRPr>
            </a:pPr>
            <a:r>
              <a:t>Quantum Atlas  ·  SIH 26164 (NTRO) — ECDAT                                                             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327648"/>
            <a:ext cx="11064240" cy="25400"/>
          </a:xfrm>
          <a:prstGeom prst="rect">
            <a:avLst/>
          </a:prstGeom>
          <a:solidFill>
            <a:srgbClr val="22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300" b="1">
                <a:solidFill>
                  <a:srgbClr val="3DDC84"/>
                </a:solidFill>
                <a:latin typeface="Consolas"/>
              </a:rPr>
              <a:t>SMART INDIA HACKATHON  ·  PROBLEM STATEMENT 26164  ·  NTRO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6000" b="1">
                <a:solidFill>
                  <a:srgbClr val="E8EEF4"/>
                </a:solidFill>
                <a:latin typeface="Calibri"/>
              </a:rPr>
              <a:t>Quantum Atlas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93A3B4"/>
                </a:solidFill>
                <a:latin typeface="Calibri"/>
              </a:rPr>
              <a:t>Enterprise Cryptographic Discovery &amp; Analysis Tool (ECDAT)</a:t>
            </a:r>
          </a:p>
          <a:p>
            <a:pPr>
              <a:spcBef>
                <a:spcPts val="0"/>
              </a:spcBef>
              <a:spcAft>
                <a:spcPts val="2000"/>
              </a:spcAft>
            </a:pPr>
            <a:r>
              <a:rPr sz="1600" b="0">
                <a:solidFill>
                  <a:srgbClr val="93A3B4"/>
                </a:solidFill>
                <a:latin typeface="Calibri"/>
              </a:rPr>
              <a:t>Find every cryptographic artefact in the estate, decide which ones a quantum computer breaks — and when — and turn that into a costed migration programme you can argue with.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DDC84"/>
                </a:solidFill>
                <a:latin typeface="Consolas"/>
              </a:rPr>
              <a:t>Live demo  ·  atlas scan corpus/estate  →  101 artefacts  ·  CBOM + SARIF + report +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D6F81"/>
                </a:solidFill>
                <a:latin typeface="Consolas"/>
              </a:defRPr>
            </a:pPr>
            <a:r>
              <a:t>Quantum Atlas  ·  SIH 26164 (NTRO) — ECDAT                                                              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327648"/>
            <a:ext cx="11064240" cy="25400"/>
          </a:xfrm>
          <a:prstGeom prst="rect">
            <a:avLst/>
          </a:prstGeom>
          <a:solidFill>
            <a:srgbClr val="22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DC84"/>
                </a:solidFill>
                <a:latin typeface="Consolas"/>
              </a:rPr>
              <a:t>ROADMAP OF THIS TALK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8EEF4"/>
                </a:solidFill>
                <a:latin typeface="Calibri"/>
              </a:rPr>
              <a:t>What we will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E8EEF4"/>
                </a:solidFill>
                <a:latin typeface="Calibri"/>
              </a:rPr>
              <a:t>•  The quantum threat and the NTRO problem statement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8EEF4"/>
                </a:solidFill>
                <a:latin typeface="Calibri"/>
              </a:rPr>
              <a:t>•  Why Atlas is not a regex grepper: the four pillars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8EEF4"/>
                </a:solidFill>
                <a:latin typeface="Calibri"/>
              </a:rPr>
              <a:t>•  System architecture and the end-to-end scan pipeline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8EEF4"/>
                </a:solidFill>
                <a:latin typeface="Calibri"/>
              </a:rPr>
              <a:t>•  Discovery engine, knowledge base and risk model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8EEF4"/>
                </a:solidFill>
                <a:latin typeface="Calibri"/>
              </a:rPr>
              <a:t>•  Mosca simulator, migration waves and effort costing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8EEF4"/>
                </a:solidFill>
                <a:latin typeface="Calibri"/>
              </a:rPr>
              <a:t>•  Live TLS evidence, outputs, CI gating and the console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8EEF4"/>
                </a:solidFill>
                <a:latin typeface="Calibri"/>
              </a:rPr>
              <a:t>•  Verified results, test discipline, gaps and next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286000"/>
            <a:ext cx="5212080" cy="3657600"/>
          </a:xfrm>
          <a:prstGeom prst="roundRect">
            <a:avLst>
              <a:gd name="adj" fmla="val 8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6CB8F2"/>
                </a:solidFill>
                <a:latin typeface="Consolas"/>
              </a:rPr>
              <a:t>HOW TO READ THIS DECK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EF4"/>
                </a:solidFill>
                <a:latin typeface="Calibri"/>
              </a:rPr>
              <a:t>Every number is measured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3A3B4"/>
                </a:solidFill>
                <a:latin typeface="Calibri"/>
              </a:rPr>
              <a:t>Artefact counts, timings, Mosca violations and effort figures come from real stored scans in results/ and live API responses — not projections. Where the prototype has gaps, they are stated explicitly on slide 20.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D6F81"/>
                </a:solidFill>
                <a:latin typeface="Consolas"/>
              </a:defRPr>
            </a:pPr>
            <a:r>
              <a:t>Quantum Atlas  ·  SIH 26164 (NTRO) — ECDAT                                                             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327648"/>
            <a:ext cx="11064240" cy="25400"/>
          </a:xfrm>
          <a:prstGeom prst="rect">
            <a:avLst/>
          </a:prstGeom>
          <a:solidFill>
            <a:srgbClr val="22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DC84"/>
                </a:solidFill>
                <a:latin typeface="Consolas"/>
              </a:rPr>
              <a:t>01  ·  PROBLEM STATEMENT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8EEF4"/>
                </a:solidFill>
                <a:latin typeface="Calibri"/>
              </a:rPr>
              <a:t>What NTRO asked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3DDC84"/>
                </a:solidFill>
                <a:latin typeface="Calibri"/>
              </a:rPr>
              <a:t>Catalogue cryptography estate-wide.  </a:t>
            </a:r>
            <a:r>
              <a:rPr sz="1500">
                <a:solidFill>
                  <a:srgbClr val="E8EEF4"/>
                </a:solidFill>
                <a:latin typeface="Calibri"/>
              </a:rPr>
              <a:t>Discover algorithms, certificates, keys, protocols and libraries across applications, products and infrastructure — with ownership attribution per team/service.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3DDC84"/>
                </a:solidFill>
                <a:latin typeface="Calibri"/>
              </a:rPr>
              <a:t>Quantify the quantum exposure.  </a:t>
            </a:r>
            <a:r>
              <a:rPr sz="1500">
                <a:solidFill>
                  <a:srgbClr val="E8EEF4"/>
                </a:solidFill>
                <a:latin typeface="Calibri"/>
              </a:rPr>
              <a:t>Classify each finding by post-quantum impact (Shor-broken, Grover-weakened, safe) and decide what breaks, and in what order it must migrate.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F5B544"/>
                </a:solidFill>
                <a:latin typeface="Calibri"/>
              </a:rPr>
              <a:t>Answer “harvest now, decrypt later”.  </a:t>
            </a:r>
            <a:r>
              <a:rPr sz="1500">
                <a:solidFill>
                  <a:srgbClr val="E8EEF4"/>
                </a:solidFill>
                <a:latin typeface="Calibri"/>
              </a:rPr>
              <a:t>Long-lived data encrypted today can be stored by adversaries and decrypted once a cryptographically relevant quantum computer (CRQC) arrives.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3DDC84"/>
                </a:solidFill>
                <a:latin typeface="Calibri"/>
              </a:rPr>
              <a:t>Produce a migration programme.  </a:t>
            </a:r>
            <a:r>
              <a:rPr sz="1500">
                <a:solidFill>
                  <a:srgbClr val="E8EEF4"/>
                </a:solidFill>
                <a:latin typeface="Calibri"/>
              </a:rPr>
              <a:t>Not a flat vulnerability list: dependency-ordered waves, effort in engineer-days, and a finish-vs-horizon verdict the organisation can fund and execute.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D6F81"/>
                </a:solidFill>
                <a:latin typeface="Consolas"/>
              </a:defRPr>
            </a:pPr>
            <a:r>
              <a:t>Quantum Atlas  ·  SIH 26164 (NTRO) — ECDAT                                                              4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327648"/>
            <a:ext cx="11064240" cy="25400"/>
          </a:xfrm>
          <a:prstGeom prst="rect">
            <a:avLst/>
          </a:prstGeom>
          <a:solidFill>
            <a:srgbClr val="22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DC84"/>
                </a:solidFill>
                <a:latin typeface="Consolas"/>
              </a:rPr>
              <a:t>02  ·  THREAT PRIMER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8EEF4"/>
                </a:solidFill>
                <a:latin typeface="Calibri"/>
              </a:rPr>
              <a:t>Three algorithms that set the deadline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3474720" cy="3566160"/>
          </a:xfrm>
          <a:prstGeom prst="roundRect">
            <a:avLst>
              <a:gd name="adj" fmla="val 8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F26D6D"/>
                </a:solidFill>
                <a:latin typeface="Consolas"/>
              </a:rPr>
              <a:t>SHOR'S ALGORITHM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EF4"/>
                </a:solidFill>
                <a:latin typeface="Calibri"/>
              </a:rPr>
              <a:t>Asymmetric crypto falls entirely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3A3B4"/>
                </a:solidFill>
                <a:latin typeface="Calibri"/>
              </a:rPr>
              <a:t>RSA, ECDSA, ECDH and Ed25519 drop to 0 bits of post-quantum strength. Every key exchange they performed and every signature they issued becomes forgeable / readable. This is ~all of today's public-key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286000"/>
            <a:ext cx="3474720" cy="3566160"/>
          </a:xfrm>
          <a:prstGeom prst="roundRect">
            <a:avLst>
              <a:gd name="adj" fmla="val 8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F5B544"/>
                </a:solidFill>
                <a:latin typeface="Consolas"/>
              </a:rPr>
              <a:t>GROVER'S ALGORITHM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EF4"/>
                </a:solidFill>
                <a:latin typeface="Calibri"/>
              </a:rPr>
              <a:t>Symmetric strength halves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3A3B4"/>
                </a:solidFill>
                <a:latin typeface="Calibri"/>
              </a:rPr>
              <a:t>AES-128 keeps only ~64 effective bits — below comfort. AES-256 (~128 bits) and SHA-384 remain adequate. Symmetric migration is therefore selective hardening, scheduled last, not an emergency.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286000"/>
            <a:ext cx="3474720" cy="3566160"/>
          </a:xfrm>
          <a:prstGeom prst="roundRect">
            <a:avLst>
              <a:gd name="adj" fmla="val 8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3DDC84"/>
                </a:solidFill>
                <a:latin typeface="Consolas"/>
              </a:rPr>
              <a:t>MOSCA'S INEQUALITY  X + Y &gt; Z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EF4"/>
                </a:solidFill>
                <a:latin typeface="Calibri"/>
              </a:rPr>
              <a:t>Some data is already exposed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3A3B4"/>
                </a:solidFill>
                <a:latin typeface="Calibri"/>
              </a:rPr>
              <a:t>X = data shelf-life, Y = migration time, Z = years until CRQC. When X + Y exceeds Z, ciphertext harvested today will be decrypted before you finish migrating. That data is lost already — triage it first.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D6F81"/>
                </a:solidFill>
                <a:latin typeface="Consolas"/>
              </a:defRPr>
            </a:pPr>
            <a:r>
              <a:t>Quantum Atlas  ·  SIH 26164 (NTRO) — ECDAT                                                              5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327648"/>
            <a:ext cx="11064240" cy="25400"/>
          </a:xfrm>
          <a:prstGeom prst="rect">
            <a:avLst/>
          </a:prstGeom>
          <a:solidFill>
            <a:srgbClr val="22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DC84"/>
                </a:solidFill>
                <a:latin typeface="Consolas"/>
              </a:rPr>
              <a:t>03  ·  DESIGN PHILOSOPHY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8EEF4"/>
                </a:solidFill>
                <a:latin typeface="Calibri"/>
              </a:rPr>
              <a:t>Why this is not a regex grepper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5394960" cy="1691640"/>
          </a:xfrm>
          <a:prstGeom prst="roundRect">
            <a:avLst>
              <a:gd name="adj" fmla="val 8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3DDC84"/>
                </a:solidFill>
                <a:latin typeface="Consolas"/>
              </a:rPr>
              <a:t>01  ·  EVIDENCE, NOT ASSERTIONS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EF4"/>
                </a:solidFill>
                <a:latin typeface="Calibri"/>
              </a:rPr>
              <a:t>Nothing exists without provenance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3A3B4"/>
                </a:solidFill>
                <a:latin typeface="Calibri"/>
              </a:rPr>
              <a:t>Every artefact records file:line, the source snippet, and the container layer or binary section it came from. The console streams findings with paths as the walk proceeds — a reviewer's first question ('did it really read my repo?') answers itself.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286000"/>
            <a:ext cx="5394960" cy="1691640"/>
          </a:xfrm>
          <a:prstGeom prst="roundRect">
            <a:avLst>
              <a:gd name="adj" fmla="val 8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3DDC84"/>
                </a:solidFill>
                <a:latin typeface="Consolas"/>
              </a:rPr>
              <a:t>02  ·  MOSCA IS A CONTROL, NOT A CONSTANT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EF4"/>
                </a:solidFill>
                <a:latin typeface="Calibri"/>
              </a:rPr>
              <a:t>Assumptions you can move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3A3B4"/>
                </a:solidFill>
                <a:latin typeface="Calibri"/>
              </a:rPr>
              <a:t>CRQC year, shelf-life, migration time and headcount are sliders. Re-simulation re-runs the pure risk model over stored artefacts — never a rescan — so it feels instant, with a violations-vs-year sensitivity curve.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60520"/>
            <a:ext cx="5394960" cy="1691640"/>
          </a:xfrm>
          <a:prstGeom prst="roundRect">
            <a:avLst>
              <a:gd name="adj" fmla="val 8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6CB8F2"/>
                </a:solidFill>
                <a:latin typeface="Consolas"/>
              </a:rPr>
              <a:t>03  ·  REAL NETWORK EVIDENCE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EF4"/>
                </a:solidFill>
                <a:latin typeface="Calibri"/>
              </a:rPr>
              <a:t>Measured, not assumed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3A3B4"/>
                </a:solidFill>
                <a:latin typeface="Calibri"/>
              </a:rPr>
              <a:t>atlas probe performs actual TLS handshakes: negotiated version, cipher, key-exchange group, legacy-version acceptance and the served chain. cloudflare.com returns X25519MLKEM768 — real hybrid PQC on the wire.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160520"/>
            <a:ext cx="5394960" cy="1691640"/>
          </a:xfrm>
          <a:prstGeom prst="roundRect">
            <a:avLst>
              <a:gd name="adj" fmla="val 8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F5B544"/>
                </a:solidFill>
                <a:latin typeface="Consolas"/>
              </a:rPr>
              <a:t>04  ·  A PROGRAMME, NOT A LIST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EF4"/>
                </a:solidFill>
                <a:latin typeface="Calibri"/>
              </a:rPr>
              <a:t>Physics-ordered migration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3A3B4"/>
                </a:solidFill>
                <a:latin typeface="Calibri"/>
              </a:rPr>
              <a:t>Migrating in severity order stalls: the library underneath can't do the new algorithm yet. Waves order providers → protocols → key agreement → signatures, each costed in engineer-days with a deadline verdict.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D6F81"/>
                </a:solidFill>
                <a:latin typeface="Consolas"/>
              </a:defRPr>
            </a:pPr>
            <a:r>
              <a:t>Quantum Atlas  ·  SIH 26164 (NTRO) — ECDAT                                                              6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327648"/>
            <a:ext cx="11064240" cy="25400"/>
          </a:xfrm>
          <a:prstGeom prst="rect">
            <a:avLst/>
          </a:prstGeom>
          <a:solidFill>
            <a:srgbClr val="22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DC84"/>
                </a:solidFill>
                <a:latin typeface="Consolas"/>
              </a:rPr>
              <a:t>04  ·  SYSTEM ARCHITECTURE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8EEF4"/>
                </a:solidFill>
                <a:latin typeface="Calibri"/>
              </a:rPr>
              <a:t>One engine, three interfaces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286000"/>
          <a:ext cx="10881360" cy="2544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108960"/>
                <a:gridCol w="65836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5D6F81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73152" marT="27432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5D6F81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T="27432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5D6F81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marL="73152" marT="27432">
                    <a:solidFill>
                      <a:srgbClr val="0B0F14"/>
                    </a:solidFill>
                  </a:tcPr>
                </a:tc>
              </a:tr>
              <a:tr h="363147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Interfaces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CLI (10 cmds)  ·  REST API (20+ routes + SSE)  ·  React console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All three drive the same ScanEngine — a green pipeline and a green dashboard always mean the same thing.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63147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1. Dispatch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engine.py  ·  ScanEngine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Targets routed by kind: source → file scanners, container → tar walker, binary → string-table matcher, endpoint → live TLS prober. Event streaming + cancellation.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63147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2. Discover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scanners.py / scanners2.py / network.py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Regex + tolerant X.509 parse + manifest parse + layer walk + handshake. Dedup by artefact id; unparseable certs and unknown OIDs still recorded.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63147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3. Assess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risk.py (pure, no I/O)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Impact → lifetime → Mosca → severity/score → recommendation. Pure function, so re-simulation is instant.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63147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4. Plan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planner.py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7 dependency-ordered waves, sequential schedule, effort rollup, risk curve, exposure matrices.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6315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5. Emit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cbom.py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CycloneDX 1.6 CBOM + SARIF 2.1.0 + Markdown report + raw JSON for re-simulation.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D6F81"/>
                </a:solidFill>
                <a:latin typeface="Consolas"/>
              </a:defRPr>
            </a:pPr>
            <a:r>
              <a:t>Quantum Atlas  ·  SIH 26164 (NTRO) — ECDAT                                                              7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327648"/>
            <a:ext cx="11064240" cy="25400"/>
          </a:xfrm>
          <a:prstGeom prst="rect">
            <a:avLst/>
          </a:prstGeom>
          <a:solidFill>
            <a:srgbClr val="22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DC84"/>
                </a:solidFill>
                <a:latin typeface="Consolas"/>
              </a:rPr>
              <a:t>05  ·  DISCOVERY ENGINE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8EEF4"/>
                </a:solidFill>
                <a:latin typeface="Calibri"/>
              </a:rPr>
              <a:t>Six scanners, one evidence standard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286000"/>
          <a:ext cx="10881360" cy="2862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566160"/>
                <a:gridCol w="58521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D6F81"/>
                          </a:solidFill>
                          <a:latin typeface="Calibri"/>
                        </a:rPr>
                        <a:t>Scanner</a:t>
                      </a:r>
                    </a:p>
                  </a:txBody>
                  <a:tcPr marL="73152" marT="27432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D6F81"/>
                          </a:solidFill>
                          <a:latin typeface="Calibri"/>
                        </a:rPr>
                        <a:t>Inputs</a:t>
                      </a:r>
                    </a:p>
                  </a:txBody>
                  <a:tcPr marL="73152" marT="27432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D6F81"/>
                          </a:solidFill>
                          <a:latin typeface="Calibri"/>
                        </a:rPr>
                        <a:t>Highlights</a:t>
                      </a:r>
                    </a:p>
                  </a:txBody>
                  <a:tcPr marL="73152" marT="27432">
                    <a:solidFill>
                      <a:srgbClr val="0B0F14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16 languages (.py .java .js/.ts .go .c .rs …), ~90 regexes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ML-KEM / ML-DSA aware; service markers incl. PQC pilot code paths.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Certificate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.pem .crt .cer .der .p7b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Multi-cert PEM chains + DER; subject/issuer/validity/expiry, key size, curve, sig-alg; expired certs flagged; GOST + unknown OIDs kept by OID.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Key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.pem .key .ppk .pk8 .pub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6 PEM markers; records type, encryption state, size. Unencrypted private keys add +1.0 severity.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Library / Config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requirements, package.json, pom.xml, go.mod, Terraform, K8s, nginx/Apache/SSH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Version-aware PQC capability (e.g. BouncyCastle ≥1.80); lb-ssl-policy → protocol expansion; SECLEVEL≤1 flagged.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Container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.tar / .tar.gz docker-save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No Docker daemon needed; walks layers, evidence carries container_layer.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Binary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ELF / PE / Mach-O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12 library markers (OpenSSL, BoringSSL, liboqs, Botan …) with version capture.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TLS endpoint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host[:port], up to 12 per call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Best handshake + per-version acceptance + PQC group insistence via openssl CLI.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D6F81"/>
                </a:solidFill>
                <a:latin typeface="Consolas"/>
              </a:defRPr>
            </a:pPr>
            <a:r>
              <a:t>Quantum Atlas  ·  SIH 26164 (NTRO) — ECDAT                                                              8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327648"/>
            <a:ext cx="11064240" cy="25400"/>
          </a:xfrm>
          <a:prstGeom prst="rect">
            <a:avLst/>
          </a:prstGeom>
          <a:solidFill>
            <a:srgbClr val="22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DC84"/>
                </a:solidFill>
                <a:latin typeface="Consolas"/>
              </a:rPr>
              <a:t>06  ·  KNOWLEDGE BASE  (atlas/knowledge_base.py)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8EEF4"/>
                </a:solidFill>
                <a:latin typeface="Calibri"/>
              </a:rPr>
              <a:t>112 algorithms the risk model reasons over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DDC84"/>
                </a:solidFill>
                <a:latin typeface="Calibri"/>
              </a:rPr>
              <a:t>112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3A3B4"/>
                </a:solidFill>
                <a:latin typeface="Calibri"/>
              </a:rPr>
              <a:t>algorithms with NIST status, strength, OIDs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28600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CB8F2"/>
                </a:solidFill>
                <a:latin typeface="Calibri"/>
              </a:rPr>
              <a:t>89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3A3B4"/>
                </a:solidFill>
                <a:latin typeface="Calibri"/>
              </a:rPr>
              <a:t>aliases: legacy spellings → canonical names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28600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DDC84"/>
                </a:solidFill>
                <a:latin typeface="Calibri"/>
              </a:rPr>
              <a:t>36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3A3B4"/>
                </a:solidFill>
                <a:latin typeface="Calibri"/>
              </a:rPr>
              <a:t>post-quantum entries (FIPS 203/204/205 + hybrids)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228600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5B544"/>
                </a:solidFill>
                <a:latin typeface="Calibri"/>
              </a:rPr>
              <a:t>25 / 13 / 11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3A3B4"/>
                </a:solidFill>
                <a:latin typeface="Calibri"/>
              </a:rPr>
              <a:t>shor-broken / grover / classically-broken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3DDC84"/>
                </a:solidFill>
                <a:latin typeface="Calibri"/>
              </a:rPr>
              <a:t>Alias resolution in 5 steps:  </a:t>
            </a:r>
            <a:r>
              <a:rPr sz="1500">
                <a:solidFill>
                  <a:srgbClr val="E8EEF4"/>
                </a:solidFill>
                <a:latin typeface="Calibri"/>
              </a:rPr>
              <a:t>exact → alias table (SHA256→SHA-256, Kyber variants…) → vendor-suffix strip → cipher-suite weakest-link → guarded substring. Typing “kyber” surfaces ML-KEM, not a dead end.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6CB8F2"/>
                </a:solidFill>
                <a:latin typeface="Calibri"/>
              </a:rPr>
              <a:t>Cipher-suite decomposition:  </a:t>
            </a:r>
            <a:r>
              <a:rPr sz="1500">
                <a:solidFill>
                  <a:srgbClr val="E8EEF4"/>
                </a:solidFill>
                <a:latin typeface="Calibri"/>
              </a:rPr>
              <a:t>every component ranked by urgency tier, then role — e.g. TLS_RSA_WITH_3DES… scores 3DES; ECDHE-RSA-AES256… scores ECDH. The console shows which component was scored and why.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93A3B4"/>
                </a:solidFill>
                <a:latin typeface="Calibri"/>
              </a:rPr>
              <a:t>Supersession following:  </a:t>
            </a:r>
            <a:r>
              <a:rPr sz="1500">
                <a:solidFill>
                  <a:srgbClr val="E8EEF4"/>
                </a:solidFill>
                <a:latin typeface="Calibri"/>
              </a:rPr>
              <a:t>searching a retired name pulls in its replacement (Kyber → ML-KEM parameter sets), so answers stay actionable.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D6F81"/>
                </a:solidFill>
                <a:latin typeface="Consolas"/>
              </a:defRPr>
            </a:pPr>
            <a:r>
              <a:t>Quantum Atlas  ·  SIH 26164 (NTRO) — ECDAT                                                              9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327648"/>
            <a:ext cx="11064240" cy="25400"/>
          </a:xfrm>
          <a:prstGeom prst="rect">
            <a:avLst/>
          </a:prstGeom>
          <a:solidFill>
            <a:srgbClr val="22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DC84"/>
                </a:solidFill>
                <a:latin typeface="Consolas"/>
              </a:rPr>
              <a:t>07  ·  RISK MODEL  (atlas/risk.py)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8EEF4"/>
                </a:solidFill>
                <a:latin typeface="Calibri"/>
              </a:rPr>
              <a:t>From impact to a 0–10 score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286000"/>
          <a:ext cx="667512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21031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5D6F81"/>
                          </a:solidFill>
                          <a:latin typeface="Calibri"/>
                        </a:rPr>
                        <a:t>Impact class</a:t>
                      </a:r>
                    </a:p>
                  </a:txBody>
                  <a:tcPr marL="73152" marT="27432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5D6F81"/>
                          </a:solidFill>
                          <a:latin typeface="Calibri"/>
                        </a:rPr>
                        <a:t>Base score logic</a:t>
                      </a:r>
                    </a:p>
                  </a:txBody>
                  <a:tcPr marL="73152" marT="27432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5D6F81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3152" marT="27432">
                    <a:solidFill>
                      <a:srgbClr val="0B0F1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broken_classically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9.0 — exploitable today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MD5, SHA-1, RC4, DES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shor_broken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7.0 + 1.5 × sensitivity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RSA, ECDSA, ECDH, Ed25519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grover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3.5 + 1.5 × sensitivity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AES-128, 3DES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classical_ok / pq_safe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2.5 / 0.8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AES-256, SHA-384 / ML-KEM, ML-DSA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2286000"/>
            <a:ext cx="3931920" cy="3657600"/>
          </a:xfrm>
          <a:prstGeom prst="roundRect">
            <a:avLst>
              <a:gd name="adj" fmla="val 8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F5B544"/>
                </a:solidFill>
                <a:latin typeface="Consolas"/>
              </a:rPr>
              <a:t>ADJUSTMENTS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EF4"/>
                </a:solidFill>
                <a:latin typeface="Calibri"/>
              </a:rPr>
              <a:t>Severity is derived, then tuned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3A3B4"/>
                </a:solidFill>
                <a:latin typeface="Calibri"/>
              </a:rPr>
              <a:t>Mosca urgency (−3y → +1.6, violated → +1.0, far → −0.8) × business-criticality factor; +1.5 expired cert or RSA&lt;2048; +1.0 unencrypted private key; +1.0 config weakness. Clamped 0–10: critical ≥8.5, high ≥6.5, medium ≥4.0, low ≥2.0.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D6F81"/>
                </a:solidFill>
                <a:latin typeface="Consolas"/>
              </a:defRPr>
            </a:pPr>
            <a:r>
              <a:t>Quantum Atlas  ·  SIH 26164 (NTRO) — ECDAT                                                              10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327648"/>
            <a:ext cx="11064240" cy="25400"/>
          </a:xfrm>
          <a:prstGeom prst="rect">
            <a:avLst/>
          </a:prstGeom>
          <a:solidFill>
            <a:srgbClr val="22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DC84"/>
                </a:solidFill>
                <a:latin typeface="Consolas"/>
              </a:rPr>
              <a:t>08  ·  MOSCA IN PRACTICE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8EEF4"/>
                </a:solidFill>
                <a:latin typeface="Calibri"/>
              </a:rPr>
              <a:t>Where X, Y and Z actually come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3DDC84"/>
                </a:solidFill>
                <a:latin typeface="Calibri"/>
              </a:rPr>
              <a:t>X — shelf-life, most-trusted source wins:  </a:t>
            </a:r>
            <a:r>
              <a:rPr sz="1500">
                <a:solidFill>
                  <a:srgbClr val="E8EEF4"/>
                </a:solidFill>
                <a:latin typeface="Calibri"/>
              </a:rPr>
              <a:t>certificate validity windows first (roots/self-signed floored at 15y, since they sign longer-lived material); then path signals (archive/ → 25y, treasury/ → 20y, root-ca/ → 15y); then per-class defaults (keys 8y, certs 7y, symmetric 3y). Capped at 30 years — a 1000-year test-corpus notAfter must not outrank genuine findings; the cap is disclosed on the artefact.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6CB8F2"/>
                </a:solidFill>
                <a:latin typeface="Calibri"/>
              </a:rPr>
              <a:t>Y — migration time, per artefact type:  </a:t>
            </a:r>
            <a:r>
              <a:rPr sz="1500">
                <a:solidFill>
                  <a:srgbClr val="E8EEF4"/>
                </a:solidFill>
                <a:latin typeface="Calibri"/>
              </a:rPr>
              <a:t>cert/protocol/endpoint 4 mo, algorithm-use 5 mo, binary/container/key 6 mo, cloud 9 mo, hardware 12 mo; ×1.5 if business-critical, ×0.6 if low.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F5B544"/>
                </a:solidFill>
                <a:latin typeface="Calibri"/>
              </a:rPr>
              <a:t>Z — years until CRQC:  </a:t>
            </a:r>
            <a:r>
              <a:rPr sz="1500">
                <a:solidFill>
                  <a:srgbClr val="E8EEF4"/>
                </a:solidFill>
                <a:latin typeface="Calibri"/>
              </a:rPr>
              <a:t>default 2033 − 2026 = 7 years; the simulator sweeps 2028–2050 so the sensitivity curve — not a point estimate — is the deliverable.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93A3B4"/>
                </a:solidFill>
                <a:latin typeface="Calibri"/>
              </a:rPr>
              <a:t>Effort honesty:  </a:t>
            </a:r>
            <a:r>
              <a:rPr sz="1500">
                <a:solidFill>
                  <a:srgbClr val="E8EEF4"/>
                </a:solidFill>
                <a:latin typeface="Calibri"/>
              </a:rPr>
              <a:t>schedules cost at 18 engineer-days per person-month, not 22 — nobody migrates cryptography full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D6F81"/>
                </a:solidFill>
                <a:latin typeface="Consolas"/>
              </a:defRPr>
            </a:pPr>
            <a:r>
              <a:t>Quantum Atlas  ·  SIH 26164 (NTRO) — ECDAT                                                              11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327648"/>
            <a:ext cx="11064240" cy="25400"/>
          </a:xfrm>
          <a:prstGeom prst="rect">
            <a:avLst/>
          </a:prstGeom>
          <a:solidFill>
            <a:srgbClr val="22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DC84"/>
                </a:solidFill>
                <a:latin typeface="Consolas"/>
              </a:rPr>
              <a:t>09  ·  MOSCA SIMULATOR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8EEF4"/>
                </a:solidFill>
                <a:latin typeface="Calibri"/>
              </a:rPr>
              <a:t>Move the assumptions, watch findings flip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3DDC84"/>
                </a:solidFill>
                <a:latin typeface="Calibri"/>
              </a:rPr>
              <a:t>Four sliders, zero rescans:  </a:t>
            </a:r>
            <a:r>
              <a:rPr sz="1500">
                <a:solidFill>
                  <a:srgbClr val="E8EEF4"/>
                </a:solidFill>
                <a:latin typeface="Calibri"/>
              </a:rPr>
              <a:t>CRQC year (2027–2060), shelf-life, migration months, engineers. Re-derives the whole risk picture from stored JSON in milliseconds.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6CB8F2"/>
                </a:solidFill>
                <a:latin typeface="Calibri"/>
              </a:rPr>
              <a:t>Four presets:  </a:t>
            </a:r>
            <a:r>
              <a:rPr sz="1500">
                <a:solidFill>
                  <a:srgbClr val="E8EEF4"/>
                </a:solidFill>
                <a:latin typeface="Calibri"/>
              </a:rPr>
              <a:t>CNSA-strict 2033, Aggressive 2030, Median 2035, Long-lived archive. One click reframes the entire programme.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93A3B4"/>
                </a:solidFill>
                <a:latin typeface="Calibri"/>
              </a:rPr>
              <a:t>Outputs per run:  </a:t>
            </a:r>
            <a:r>
              <a:rPr sz="1500">
                <a:solidFill>
                  <a:srgbClr val="E8EEF4"/>
                </a:solidFill>
                <a:latin typeface="Calibri"/>
              </a:rPr>
              <a:t>flipped-severity counts, deadline banner, clickable violations curve, severity bars, top-10 risks under the new assumptions.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377440"/>
            <a:ext cx="5212080" cy="3657600"/>
          </a:xfrm>
          <a:prstGeom prst="roundRect">
            <a:avLst>
              <a:gd name="adj" fmla="val 8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F5B544"/>
                </a:solidFill>
                <a:latin typeface="Consolas"/>
              </a:rPr>
              <a:t>WHY THIS MATTERS TO NTRO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EF4"/>
                </a:solidFill>
                <a:latin typeface="Calibri"/>
              </a:rPr>
              <a:t>The CRQC date is unknowable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3A3B4"/>
                </a:solidFill>
                <a:latin typeface="Calibri"/>
              </a:rPr>
              <a:t>Hard-coding 2033 and presenting the result as fact would be dishonest. The simulator turns the deepest uncertainty in the plan into an interactive control — decision-makers see how sensitive the answer is before they fund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D6F81"/>
                </a:solidFill>
                <a:latin typeface="Consolas"/>
              </a:defRPr>
            </a:pPr>
            <a:r>
              <a:t>Quantum Atlas  ·  SIH 26164 (NTRO) — ECDAT                                                             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327648"/>
            <a:ext cx="11064240" cy="25400"/>
          </a:xfrm>
          <a:prstGeom prst="rect">
            <a:avLst/>
          </a:prstGeom>
          <a:solidFill>
            <a:srgbClr val="22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DC84"/>
                </a:solidFill>
                <a:latin typeface="Consolas"/>
              </a:rPr>
              <a:t>10  ·  MIGRATION PLANNER  (atlas/planner.py)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8EEF4"/>
                </a:solidFill>
                <a:latin typeface="Calibri"/>
              </a:rPr>
              <a:t>Seven waves in physics order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286000"/>
          <a:ext cx="10881360" cy="2862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657600"/>
                <a:gridCol w="48463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5D6F81"/>
                          </a:solidFill>
                          <a:latin typeface="Calibri"/>
                        </a:rPr>
                        <a:t>Wave</a:t>
                      </a:r>
                    </a:p>
                  </a:txBody>
                  <a:tcPr marL="73152" marT="27432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5D6F81"/>
                          </a:solidFill>
                          <a:latin typeface="Calibri"/>
                        </a:rPr>
                        <a:t>Content</a:t>
                      </a:r>
                    </a:p>
                  </a:txBody>
                  <a:tcPr marL="73152" marT="27432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5D6F81"/>
                          </a:solidFill>
                          <a:latin typeface="Calibri"/>
                        </a:rPr>
                        <a:t>Rationale</a:t>
                      </a:r>
                    </a:p>
                  </a:txBody>
                  <a:tcPr marL="73152" marT="27432">
                    <a:solidFill>
                      <a:srgbClr val="0B0F14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W1 — Kill classical breaks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MD5, SHA-1, RC4, DES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Exploitable today; cheapest wins first.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W2 — Providers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Libraries, binaries, container images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Nothing above can migrate until the platform supports PQC.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W3 — Protocol floors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TLS versions, configs, endpoints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Raise the floor before swapping algorithms.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W4 — Key agreement + HNDL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KEMs, ECDH, cipher-suites, Mosca violators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The harvest-now-decrypt-later surface.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W5 — Signatures, certs, keys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RSA/ECDSA cert chains, private keys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Identity plane after confidentiality.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W6 — Vendor-gated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HSMs, cloud KMS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Gated on vendor firmware / service support.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W7 — Symmetric hardening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AES-128 → 256, weak hashes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Grover margin; scheduled last by design.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D6F81"/>
                </a:solidFill>
                <a:latin typeface="Consolas"/>
              </a:defRPr>
            </a:pPr>
            <a:r>
              <a:t>Quantum Atlas  ·  SIH 26164 (NTRO) — ECDAT                                                              13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327648"/>
            <a:ext cx="11064240" cy="25400"/>
          </a:xfrm>
          <a:prstGeom prst="rect">
            <a:avLst/>
          </a:prstGeom>
          <a:solidFill>
            <a:srgbClr val="22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DC84"/>
                </a:solidFill>
                <a:latin typeface="Consolas"/>
              </a:rPr>
              <a:t>11  ·  EFFORT &amp; SCHEDULE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8EEF4"/>
                </a:solidFill>
                <a:latin typeface="Calibri"/>
              </a:rPr>
              <a:t>A plan you can fund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DDC84"/>
                </a:solidFill>
                <a:latin typeface="Calibri"/>
              </a:rPr>
              <a:t>1,443 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3A3B4"/>
                </a:solidFill>
                <a:latin typeface="Calibri"/>
              </a:rPr>
              <a:t>demo estate total effort (7 waves)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28600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CB8F2"/>
                </a:solidFill>
                <a:latin typeface="Calibri"/>
              </a:rPr>
              <a:t>18 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3A3B4"/>
                </a:solidFill>
                <a:latin typeface="Calibri"/>
              </a:rPr>
              <a:t>per person-month costing basis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28600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6D6D"/>
                </a:solidFill>
                <a:latin typeface="Calibri"/>
              </a:rPr>
              <a:t>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3A3B4"/>
                </a:solidFill>
                <a:latin typeface="Calibri"/>
              </a:rPr>
              <a:t>Mosca violations prioritised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228600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5B544"/>
                </a:solidFill>
                <a:latin typeface="Calibri"/>
              </a:rPr>
              <a:t>finish ≤ CRQC?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3A3B4"/>
                </a:solidFill>
                <a:latin typeface="Calibri"/>
              </a:rPr>
              <a:t>plain deadline verdict per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E8EEF4"/>
                </a:solidFill>
                <a:latin typeface="Calibri"/>
              </a:rPr>
              <a:t>•  Schedule math is transparent:  months per wave = effort_days ÷ (engineers × 18); waves run sequentially; finish_year = 2026 + total_months / 12; meets_deadline = finish ≤ crqc_year, with slack in years.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8EEF4"/>
                </a:solidFill>
                <a:latin typeface="Calibri"/>
              </a:rPr>
              <a:t>•  Work units dedup by (file_path, target), so one file fixed once counts once — per-service rollups (services.py) attribute the same units to owning teams without double-counting.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8EEF4"/>
                </a:solidFill>
                <a:latin typeface="Calibri"/>
              </a:rPr>
              <a:t>•  Recommendation effort per finding is coarse by design (low 3 d / medium 15 d / high 45 d): planning-grade, not a sprint estimate.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D6F81"/>
                </a:solidFill>
                <a:latin typeface="Consolas"/>
              </a:defRPr>
            </a:pPr>
            <a:r>
              <a:t>Quantum Atlas  ·  SIH 26164 (NTRO) — ECDAT                                                              14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327648"/>
            <a:ext cx="11064240" cy="25400"/>
          </a:xfrm>
          <a:prstGeom prst="rect">
            <a:avLst/>
          </a:prstGeom>
          <a:solidFill>
            <a:srgbClr val="22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DC84"/>
                </a:solidFill>
                <a:latin typeface="Consolas"/>
              </a:rPr>
              <a:t>12  ·  LIVE NETWORK EVIDENCE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8EEF4"/>
                </a:solidFill>
                <a:latin typeface="Calibri"/>
              </a:rPr>
              <a:t>What is really on the wire?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6CB8F2"/>
                </a:solidFill>
                <a:latin typeface="Calibri"/>
              </a:rPr>
              <a:t>Handshake sequence per host:  </a:t>
            </a:r>
            <a:r>
              <a:rPr sz="1500">
                <a:solidFill>
                  <a:srgbClr val="E8EEF4"/>
                </a:solidFill>
                <a:latin typeface="Calibri"/>
              </a:rPr>
              <a:t>best-handshake (version, cipher, secret bits, leaf cert) → per-version acceptance probes for TLS 1.3 down to 1.0 → PQC group insistence via openssl s_client -groups.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93A3B4"/>
                </a:solidFill>
                <a:latin typeface="Calibri"/>
              </a:rPr>
              <a:t>PQC honesty:  </a:t>
            </a:r>
            <a:r>
              <a:rPr sz="1500">
                <a:solidFill>
                  <a:srgbClr val="E8EEF4"/>
                </a:solidFill>
                <a:latin typeface="Calibri"/>
              </a:rPr>
              <a:t>requires OpenSSL 3.5+; otherwise reports pqc_probe: unavailable — never misreported as “no support”. Unreachable hosts return error data, never exceptions.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3DDC84"/>
                </a:solidFill>
                <a:latin typeface="Calibri"/>
              </a:rPr>
              <a:t>Artefacts per probe:  </a:t>
            </a:r>
            <a:r>
              <a:rPr sz="1500">
                <a:solidFill>
                  <a:srgbClr val="E8EEF4"/>
                </a:solidFill>
                <a:latin typeface="Calibri"/>
              </a:rPr>
              <a:t>negotiated version, each accepted legacy version, weakest-link cipher component, KEX group, leaf certificate — all with tls://host:port provenance.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2377440"/>
            <a:ext cx="4846320" cy="3657600"/>
          </a:xfrm>
          <a:prstGeom prst="roundRect">
            <a:avLst>
              <a:gd name="adj" fmla="val 8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3DDC84"/>
                </a:solidFill>
                <a:latin typeface="Consolas"/>
              </a:rPr>
              <a:t>CONFIRMED FINDING  ·  cloudflare.com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EF4"/>
                </a:solidFill>
                <a:latin typeface="Calibri"/>
              </a:rPr>
              <a:t>Hybrid PQC on the wire, classical identity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3A3B4"/>
                </a:solidFill>
                <a:latin typeface="Calibri"/>
              </a:rPr>
              <a:t>Negotiated TLS 1.3 with X25519MLKEM768 — genuine hybrid post-quantum key exchange — served alongside a classical ECDSA P-256 certificate. Confidentiality is quantum-safe; authentication is not. That split is the entire migration argument, measured live.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D6F81"/>
                </a:solidFill>
                <a:latin typeface="Consolas"/>
              </a:defRPr>
            </a:pPr>
            <a:r>
              <a:t>Quantum Atlas  ·  SIH 26164 (NTRO) — ECDAT                                                              15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327648"/>
            <a:ext cx="11064240" cy="25400"/>
          </a:xfrm>
          <a:prstGeom prst="rect">
            <a:avLst/>
          </a:prstGeom>
          <a:solidFill>
            <a:srgbClr val="22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DC84"/>
                </a:solidFill>
                <a:latin typeface="Consolas"/>
              </a:rPr>
              <a:t>13  ·  OUTPUTS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8EEF4"/>
                </a:solidFill>
                <a:latin typeface="Calibri"/>
              </a:rPr>
              <a:t>Spec-correct artefacts, not screenshots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5394960" cy="1691640"/>
          </a:xfrm>
          <a:prstGeom prst="roundRect">
            <a:avLst>
              <a:gd name="adj" fmla="val 8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3DDC84"/>
                </a:solidFill>
                <a:latin typeface="Consolas"/>
              </a:rPr>
              <a:t>CycloneDX 1.6 CBOM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EF4"/>
                </a:solidFill>
                <a:latin typeface="Calibri"/>
              </a:rPr>
              <a:t>The standardised inventory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3A3B4"/>
                </a:solidFill>
                <a:latin typeface="Calibri"/>
              </a:rPr>
              <a:t>Per-artefact cryptoProperties (primitive, parameter set, classical + NIST levels, mode, curve, OID), occurrence evidence with file + line, atlas:* properties (impact, Mosca margin, HNDL, recommendation), connected dependency graph. Schema-validated in tests.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286000"/>
            <a:ext cx="5394960" cy="1691640"/>
          </a:xfrm>
          <a:prstGeom prst="roundRect">
            <a:avLst>
              <a:gd name="adj" fmla="val 8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6CB8F2"/>
                </a:solidFill>
                <a:latin typeface="Consolas"/>
              </a:rPr>
              <a:t>SARIF 2.1.0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EF4"/>
                </a:solidFill>
                <a:latin typeface="Calibri"/>
              </a:rPr>
              <a:t>CI and code-scanning native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3A3B4"/>
                </a:solidFill>
                <a:latin typeface="Calibri"/>
              </a:rPr>
              <a:t>One rule per impact/category, severity-mapped levels, repo-relative URIs with snippets, fingerprint per artefact id. GitHub code scanning ingests it directly.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60520"/>
            <a:ext cx="5394960" cy="1691640"/>
          </a:xfrm>
          <a:prstGeom prst="roundRect">
            <a:avLst>
              <a:gd name="adj" fmla="val 8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93A3B4"/>
                </a:solidFill>
                <a:latin typeface="Consolas"/>
              </a:rPr>
              <a:t>MARKDOWN REPORT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EF4"/>
                </a:solidFill>
                <a:latin typeface="Calibri"/>
              </a:rPr>
              <a:t>The human assessment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3A3B4"/>
                </a:solidFill>
                <a:latin typeface="Calibri"/>
              </a:rPr>
              <a:t>Executive summary, Mosca inequality block, inventory-by-type table, per-wave plan, top-25 act-now findings with location, evidence, quantum year, HNDL and wire-delta of the replacement.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160520"/>
            <a:ext cx="5394960" cy="1691640"/>
          </a:xfrm>
          <a:prstGeom prst="roundRect">
            <a:avLst>
              <a:gd name="adj" fmla="val 8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F5B544"/>
                </a:solidFill>
                <a:latin typeface="Consolas"/>
              </a:rPr>
              <a:t>RAW SCAN JSON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EF4"/>
                </a:solidFill>
                <a:latin typeface="Calibri"/>
              </a:rPr>
              <a:t>Re-simulation substrate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3A3B4"/>
                </a:solidFill>
                <a:latin typeface="Calibri"/>
              </a:rPr>
              <a:t>Full artefact set persisted per scan id. Every simulate / risk-curve / plan call re-derives from this file — the reason sliders feel instant.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D6F81"/>
                </a:solidFill>
                <a:latin typeface="Consolas"/>
              </a:defRPr>
            </a:pPr>
            <a:r>
              <a:t>Quantum Atlas  ·  SIH 26164 (NTRO) — ECDAT                                                             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327648"/>
            <a:ext cx="11064240" cy="25400"/>
          </a:xfrm>
          <a:prstGeom prst="rect">
            <a:avLst/>
          </a:prstGeom>
          <a:solidFill>
            <a:srgbClr val="22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DC84"/>
                </a:solidFill>
                <a:latin typeface="Consolas"/>
              </a:rPr>
              <a:t>14  ·  CI GATE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8EEF4"/>
                </a:solidFill>
                <a:latin typeface="Calibri"/>
              </a:rPr>
              <a:t>Policy with exit codes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5852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3DDC84"/>
                </a:solidFill>
                <a:latin typeface="Consolas"/>
              </a:rPr>
              <a:t>atlas ci corpus/estate  --fail-on high  --max-mosca 0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8EEF4"/>
                </a:solidFill>
                <a:latin typeface="Calibri"/>
              </a:rPr>
              <a:t>•  Exits 1 when any finding meets/exceeds the severity threshold, or Mosca violations exceed the cap; exits 0 otherwise.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8EEF4"/>
                </a:solidFill>
                <a:latin typeface="Calibri"/>
              </a:rPr>
              <a:t>•  Verified both directions: --fail-on high on the demo estate exits 1; --fail-on none exits 0; the interbank PQC pilot service passes --fail-on critical.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E8EEF4"/>
                </a:solidFill>
                <a:latin typeface="Calibri"/>
              </a:rPr>
              <a:t>•  Writes SARIF alongside every run, so the gate and the code-scanning record are produced atomically.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377440"/>
            <a:ext cx="4663440" cy="3657600"/>
          </a:xfrm>
          <a:prstGeom prst="roundRect">
            <a:avLst>
              <a:gd name="adj" fmla="val 8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6CB8F2"/>
                </a:solidFill>
                <a:latin typeface="Consolas"/>
              </a:rPr>
              <a:t>PIPELINE SHAPE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EF4"/>
                </a:solidFill>
                <a:latin typeface="Calibri"/>
              </a:rPr>
              <a:t>Scan → gate → upload SARIF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3A3B4"/>
                </a:solidFill>
                <a:latin typeface="Calibri"/>
              </a:rPr>
              <a:t>One CLI line in any CI runner. Thresholds live in the pipeline definition, so security policy is versioned with the code it guards — and the dashboard can never disagree because it is the same engine.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D6F81"/>
                </a:solidFill>
                <a:latin typeface="Consolas"/>
              </a:defRPr>
            </a:pPr>
            <a:r>
              <a:t>Quantum Atlas  ·  SIH 26164 (NTRO) — ECDAT                                                              17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327648"/>
            <a:ext cx="11064240" cy="25400"/>
          </a:xfrm>
          <a:prstGeom prst="rect">
            <a:avLst/>
          </a:prstGeom>
          <a:solidFill>
            <a:srgbClr val="22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DC84"/>
                </a:solidFill>
                <a:latin typeface="Consolas"/>
              </a:rPr>
              <a:t>15  ·  THE CONSOLE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8EEF4"/>
                </a:solidFill>
                <a:latin typeface="Calibri"/>
              </a:rPr>
              <a:t>Seven views, one question each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286000"/>
          <a:ext cx="10881360" cy="2862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926080"/>
                <a:gridCol w="65836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5D6F81"/>
                          </a:solidFill>
                          <a:latin typeface="Calibri"/>
                        </a:rPr>
                        <a:t>View</a:t>
                      </a:r>
                    </a:p>
                  </a:txBody>
                  <a:tcPr marL="73152" marT="27432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5D6F81"/>
                          </a:solidFill>
                          <a:latin typeface="Calibri"/>
                        </a:rPr>
                        <a:t>Question it answers</a:t>
                      </a:r>
                    </a:p>
                  </a:txBody>
                  <a:tcPr marL="73152" marT="27432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5D6F81"/>
                          </a:solidFill>
                          <a:latin typeface="Calibri"/>
                        </a:rPr>
                        <a:t>Signature interaction</a:t>
                      </a:r>
                    </a:p>
                  </a:txBody>
                  <a:tcPr marL="73152" marT="27432">
                    <a:solidFill>
                      <a:srgbClr val="0B0F14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Discovery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What is in the estate?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Corpus picker + SSE finding stream with file paths; scan history open/delete.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Overview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How bad is it?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KPIs, severity/impact bars, clickable criticality × impact heatmap.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Inventory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Where precisely?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Faceted filters + free text + Mosca toggle; evidence drawer per artefact.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Simulator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How assumption-sensitive is it?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4 sliders + 4 presets; violations curve; top-10 risks.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Roadmap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What do we do, in what order, at what cost?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Wave timeline vs CRQC horizon; expandable wave cards.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Live probe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What is really on the wire?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Arbitrary hosts; per-host version/PQC/cert cards.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Knowledge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Why classified this way?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112-algorithm table + cipher-suite resolver with scored component.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D6F81"/>
                </a:solidFill>
                <a:latin typeface="Consolas"/>
              </a:defRPr>
            </a:pPr>
            <a:r>
              <a:t>Quantum Atlas  ·  SIH 26164 (NTRO) — ECDAT                                                              18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327648"/>
            <a:ext cx="11064240" cy="25400"/>
          </a:xfrm>
          <a:prstGeom prst="rect">
            <a:avLst/>
          </a:prstGeom>
          <a:solidFill>
            <a:srgbClr val="22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DC84"/>
                </a:solidFill>
                <a:latin typeface="Consolas"/>
              </a:rPr>
              <a:t>16  ·  VERIFIED RESULTS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8EEF4"/>
                </a:solidFill>
                <a:latin typeface="Calibri"/>
              </a:rPr>
              <a:t>Measured on synthetic and real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DDC84"/>
                </a:solidFill>
                <a:latin typeface="Calibri"/>
              </a:rPr>
              <a:t>101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3A3B4"/>
                </a:solidFill>
                <a:latin typeface="Calibri"/>
              </a:rPr>
              <a:t>demo artefacts · 34 files · sub-second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28600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5B544"/>
                </a:solidFill>
                <a:latin typeface="Calibri"/>
              </a:rPr>
              <a:t>43.6%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3A3B4"/>
                </a:solidFill>
                <a:latin typeface="Calibri"/>
              </a:rPr>
              <a:t>demo quantum-vulnerable share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28600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CB8F2"/>
                </a:solidFill>
                <a:latin typeface="Calibri"/>
              </a:rPr>
              <a:t>2,597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3A3B4"/>
                </a:solidFill>
                <a:latin typeface="Calibri"/>
              </a:rPr>
              <a:t>real-repo artefacts · 1,412 files · 6.8s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228600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6D6D"/>
                </a:solidFill>
                <a:latin typeface="Calibri"/>
              </a:rPr>
              <a:t>60.7%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3A3B4"/>
                </a:solidFill>
                <a:latin typeface="Calibri"/>
              </a:rPr>
              <a:t>real-repo vulnerable share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3977639"/>
          <a:ext cx="11795760" cy="1231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651760"/>
                <a:gridCol w="3108960"/>
                <a:gridCol w="1280160"/>
                <a:gridCol w="18288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D6F81"/>
                          </a:solidFill>
                          <a:latin typeface="Calibri"/>
                        </a:rPr>
                        <a:t>Estate</a:t>
                      </a:r>
                    </a:p>
                  </a:txBody>
                  <a:tcPr marL="73152" marT="27432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D6F81"/>
                          </a:solidFill>
                          <a:latin typeface="Calibri"/>
                        </a:rPr>
                        <a:t>Severity split (c / h / m / l / i)</a:t>
                      </a:r>
                    </a:p>
                  </a:txBody>
                  <a:tcPr marL="73152" marT="27432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D6F81"/>
                          </a:solidFill>
                          <a:latin typeface="Calibri"/>
                        </a:rPr>
                        <a:t>Impact split</a:t>
                      </a:r>
                    </a:p>
                  </a:txBody>
                  <a:tcPr marL="73152" marT="27432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D6F81"/>
                          </a:solidFill>
                          <a:latin typeface="Calibri"/>
                        </a:rPr>
                        <a:t>Mosca</a:t>
                      </a:r>
                    </a:p>
                  </a:txBody>
                  <a:tcPr marL="73152" marT="27432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D6F81"/>
                          </a:solidFill>
                          <a:latin typeface="Calibri"/>
                        </a:rPr>
                        <a:t>Effort</a:t>
                      </a:r>
                    </a:p>
                  </a:txBody>
                  <a:tcPr marL="73152" marT="27432">
                    <a:solidFill>
                      <a:srgbClr val="0B0F14"/>
                    </a:solidFill>
                  </a:tcPr>
                </a:tc>
              </a:tr>
              <a:tr h="43281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Meridian demo (12 services)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27 / 23 / 11 / 36 / 4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shor 32 · broken 18 · grover 12 · unknown 26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10 violations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1,443 engineer-days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43281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paramiko + pyca/cryptography + pyjwt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661 / 961 / 83 / 597 / 295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shor 1367 · grover 210 · broken 255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1,195 violations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8EEF4"/>
                          </a:solidFill>
                          <a:latin typeface="Calibri"/>
                        </a:rPr>
                        <a:t>15,162 engineer-days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D6F81"/>
                </a:solidFill>
                <a:latin typeface="Consolas"/>
              </a:defRPr>
            </a:pPr>
            <a:r>
              <a:t>Quantum Atlas  ·  SIH 26164 (NTRO) — ECDAT                                                              19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327648"/>
            <a:ext cx="11064240" cy="25400"/>
          </a:xfrm>
          <a:prstGeom prst="rect">
            <a:avLst/>
          </a:prstGeom>
          <a:solidFill>
            <a:srgbClr val="22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DC84"/>
                </a:solidFill>
                <a:latin typeface="Consolas"/>
              </a:rPr>
              <a:t>17  ·  COMPLIANCE &amp; ADVISOR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8EEF4"/>
                </a:solidFill>
                <a:latin typeface="Calibri"/>
              </a:rPr>
              <a:t>Mandates and replacements, in the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5394960" cy="3566160"/>
          </a:xfrm>
          <a:prstGeom prst="roundRect">
            <a:avLst>
              <a:gd name="adj" fmla="val 8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F5B544"/>
                </a:solidFill>
                <a:latin typeface="Consolas"/>
              </a:rPr>
              <a:t>THREE MANDATES  ·  compliance.py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EF4"/>
                </a:solidFill>
                <a:latin typeface="Calibri"/>
              </a:rPr>
              <a:t>Deadlines with provenance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3A3B4"/>
                </a:solidFill>
                <a:latin typeface="Calibri"/>
              </a:rPr>
              <a:t>NIST IR 8547 (draft): 112-bit classical deprecated after 2030, classical public-key disallowed after 2035. NSA CNSA 2.0 (strictest bar): ML-KEM-1024 / ML-DSA-87 mandated, NSS deadlines 2030/2035. SP 800-131A Rev.2: SHA-1/MD5/3DES/RSA&lt;2048 disallowed. Verdicts include not-applicable; IR 8547 is labelled draft wherever it appears.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286000"/>
            <a:ext cx="5394960" cy="3566160"/>
          </a:xfrm>
          <a:prstGeom prst="roundRect">
            <a:avLst>
              <a:gd name="adj" fmla="val 8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3DDC84"/>
                </a:solidFill>
                <a:latin typeface="Consolas"/>
              </a:rPr>
              <a:t>EIGHT WORKLOAD PROFILES  ·  advisor.py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EF4"/>
                </a:solidFill>
                <a:latin typeface="Calibri"/>
              </a:rPr>
              <a:t>Replacements that fit the deployment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3A3B4"/>
                </a:solidFill>
                <a:latin typeface="Calibri"/>
              </a:rPr>
              <a:t>tls-frontend (hybrid required) · internal-mtls (pure PQC ok) · firmware-signing · code-signing · document-archive · iot-constrained · national-security (CNSA-mandated) · payments-hsm (FIPS-final). Hard constraints reject with named blockers; survivors score 40/25/20/15 on standardisation, margin, wire and CPU. Per-service rollups say which team owns the risk.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D6F81"/>
                </a:solidFill>
                <a:latin typeface="Consolas"/>
              </a:defRPr>
            </a:pPr>
            <a:r>
              <a:t>Quantum Atlas  ·  SIH 26164 (NTRO) — ECDAT                                                             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327648"/>
            <a:ext cx="11064240" cy="25400"/>
          </a:xfrm>
          <a:prstGeom prst="rect">
            <a:avLst/>
          </a:prstGeom>
          <a:solidFill>
            <a:srgbClr val="22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DC84"/>
                </a:solidFill>
                <a:latin typeface="Consolas"/>
              </a:rPr>
              <a:t>18  ·  ENGINEERING DISCIPLINE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8EEF4"/>
                </a:solidFill>
                <a:latin typeface="Calibri"/>
              </a:rPr>
              <a:t>Tested like infrastructure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286000"/>
          <a:ext cx="667512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976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5D6F81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73152" marT="27432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5D6F81"/>
                          </a:solidFill>
                          <a:latin typeface="Calibri"/>
                        </a:rPr>
                        <a:t>Coverage</a:t>
                      </a:r>
                    </a:p>
                  </a:txBody>
                  <a:tcPr marL="73152" marT="27432">
                    <a:solidFill>
                      <a:srgbClr val="0B0F14"/>
                    </a:solidFill>
                  </a:tcPr>
                </a:tc>
              </a:tr>
              <a:tr h="37185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Risk model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30 tests: Mosca math, severity bands, shelf-life rules, cap disclosure.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7185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Planner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30 tests: wave ordering, schedule math, simulation, risk curve.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7185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Knowledge base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15 tests: alias resolution, weakest-link decomposition.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7185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Exports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16 + 3 schema-conformance: CycloneDX 1.6 + SARIF validity.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  <a:tr h="37185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API / compliance / advisor / services / network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8EEF4"/>
                          </a:solidFill>
                          <a:latin typeface="Calibri"/>
                        </a:rPr>
                        <a:t>100+ tests incl. endpoint contracts and mandate verdicts.</a:t>
                      </a:r>
                    </a:p>
                  </a:txBody>
                  <a:tcPr marL="73152" marT="27432">
                    <a:solidFill>
                      <a:srgbClr val="141C2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2286000"/>
            <a:ext cx="3931920" cy="3657600"/>
          </a:xfrm>
          <a:prstGeom prst="roundRect">
            <a:avLst>
              <a:gd name="adj" fmla="val 8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3DDC84"/>
                </a:solidFill>
                <a:latin typeface="Consolas"/>
              </a:rPr>
              <a:t>CLEAN GATES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EF4"/>
                </a:solidFill>
                <a:latin typeface="Calibri"/>
              </a:rPr>
              <a:t>Beyond unit tests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3A3B4"/>
                </a:solidFill>
                <a:latin typeface="Calibri"/>
              </a:rPr>
              <a:t>Frontend tsc -b clean; vite production build 244 kB; CI gate verified in both exit directions; live probe confirmed against real hosts. 200+ backend tests across 10 files.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D6F81"/>
                </a:solidFill>
                <a:latin typeface="Consolas"/>
              </a:defRPr>
            </a:pPr>
            <a:r>
              <a:t>Quantum Atlas  ·  SIH 26164 (NTRO) — ECDAT                                                              21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327648"/>
            <a:ext cx="11064240" cy="25400"/>
          </a:xfrm>
          <a:prstGeom prst="rect">
            <a:avLst/>
          </a:prstGeom>
          <a:solidFill>
            <a:srgbClr val="22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DC84"/>
                </a:solidFill>
                <a:latin typeface="Consolas"/>
              </a:rPr>
              <a:t>19  ·  HONEST GAPS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8EEF4"/>
                </a:solidFill>
                <a:latin typeface="Calibri"/>
              </a:rPr>
              <a:t>What the prototype is not —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F26D6D"/>
                </a:solidFill>
                <a:latin typeface="Calibri"/>
              </a:rPr>
              <a:t>Local analyst tool, no auth:  </a:t>
            </a:r>
            <a:r>
              <a:rPr sz="1500">
                <a:solidFill>
                  <a:srgbClr val="E8EEF4"/>
                </a:solidFill>
                <a:latin typeface="Calibri"/>
              </a:rPr>
              <a:t>the API binds 127.0.0.1 with no authentication; /api/scan reads arbitrary paths and /api/probe dials outbound TLS. Authentication + path allow-listing are mandatory before any network exposure.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F5B544"/>
                </a:solidFill>
                <a:latin typeface="Calibri"/>
              </a:rPr>
              <a:t>Frontend-unwired backend:  </a:t>
            </a:r>
            <a:r>
              <a:rPr sz="1500">
                <a:solidFill>
                  <a:srgbClr val="E8EEF4"/>
                </a:solidFill>
                <a:latin typeface="Calibri"/>
              </a:rPr>
              <a:t>Services rollup, compliance assessment and replacement advisor are fully implemented and typed in the API client — but have no console tabs yet. Backend-ready, frontend-missing.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93A3B4"/>
                </a:solidFill>
                <a:latin typeface="Calibri"/>
              </a:rPr>
              <a:t>Detection limits:  </a:t>
            </a:r>
            <a:r>
              <a:rPr sz="1500">
                <a:solidFill>
                  <a:srgbClr val="E8EEF4"/>
                </a:solidFill>
                <a:latin typeface="Calibri"/>
              </a:rPr>
              <a:t>regex + manifest + handshake discovery: no data-flow/taint tracking; containers need docker-save tars (no daemon); PQC group detection needs OpenSSL 3.5+; symmetric findings skew to unknown on opaque blobs.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93A3B4"/>
                </a:solidFill>
                <a:latin typeface="Calibri"/>
              </a:rPr>
              <a:t>Estimates are planning-grade:  </a:t>
            </a:r>
            <a:r>
              <a:rPr sz="1500">
                <a:solidFill>
                  <a:srgbClr val="E8EEF4"/>
                </a:solidFill>
                <a:latin typeface="Calibri"/>
              </a:rPr>
              <a:t>3/15/45-day recommendation buckets and 18-day person-months fund a programme; they are not sprint estimates. Stated as such in the UI.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D6F81"/>
                </a:solidFill>
                <a:latin typeface="Consolas"/>
              </a:defRPr>
            </a:pPr>
            <a:r>
              <a:t>Quantum Atlas  ·  SIH 26164 (NTRO) — ECDAT                                                             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327648"/>
            <a:ext cx="11064240" cy="25400"/>
          </a:xfrm>
          <a:prstGeom prst="rect">
            <a:avLst/>
          </a:prstGeom>
          <a:solidFill>
            <a:srgbClr val="22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DC84"/>
                </a:solidFill>
                <a:latin typeface="Consolas"/>
              </a:rPr>
              <a:t>20  ·  NEXT STEPS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8EEF4"/>
                </a:solidFill>
                <a:latin typeface="Calibri"/>
              </a:rPr>
              <a:t>From prototype to programme of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3DDC84"/>
                </a:solidFill>
                <a:latin typeface="Calibri"/>
              </a:rPr>
              <a:t>Harden:  </a:t>
            </a:r>
            <a:r>
              <a:rPr sz="1500">
                <a:solidFill>
                  <a:srgbClr val="E8EEF4"/>
                </a:solidFill>
                <a:latin typeface="Calibri"/>
              </a:rPr>
              <a:t>auth, path allow-listing, secrets handling, audit logging — the network-exposure checklist.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6CB8F2"/>
                </a:solidFill>
                <a:latin typeface="Calibri"/>
              </a:rPr>
              <a:t>Complete the console:  </a:t>
            </a:r>
            <a:r>
              <a:rPr sz="1500">
                <a:solidFill>
                  <a:srgbClr val="E8EEF4"/>
                </a:solidFill>
                <a:latin typeface="Calibri"/>
              </a:rPr>
              <a:t>wire Services, Compliance and Alternatives views to the ready endpoints.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93A3B4"/>
                </a:solidFill>
                <a:latin typeface="Calibri"/>
              </a:rPr>
              <a:t>Deepen detection:  </a:t>
            </a:r>
            <a:r>
              <a:rPr sz="1500">
                <a:solidFill>
                  <a:srgbClr val="E8EEF4"/>
                </a:solidFill>
                <a:latin typeface="Calibri"/>
              </a:rPr>
              <a:t>triage-ready taint tracking for key material, daemon-based image pulls, SBOM cross-import.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93A3B4"/>
                </a:solidFill>
                <a:latin typeface="Calibri"/>
              </a:rPr>
              <a:t>Operationalise:  </a:t>
            </a:r>
            <a:r>
              <a:rPr sz="1500">
                <a:solidFill>
                  <a:srgbClr val="E8EEF4"/>
                </a:solidFill>
                <a:latin typeface="Calibri"/>
              </a:rPr>
              <a:t>scheduled re-scans with drift alerts, SSO/RBAC, multi-estate aggregation for NTRO-scale inventories.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377440"/>
            <a:ext cx="5212080" cy="3657600"/>
          </a:xfrm>
          <a:prstGeom prst="roundRect">
            <a:avLst>
              <a:gd name="adj" fmla="val 8000"/>
            </a:avLst>
          </a:prstGeom>
          <a:solidFill>
            <a:srgbClr val="141C26"/>
          </a:solidFill>
          <a:ln w="12700">
            <a:solidFill>
              <a:srgbClr val="22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3DDC84"/>
                </a:solidFill>
                <a:latin typeface="Consolas"/>
              </a:rPr>
              <a:t>RUN IT NOW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E8EEF4"/>
                </a:solidFill>
                <a:latin typeface="Calibri"/>
              </a:rPr>
              <a:t>Two commands to the demo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3A3B4"/>
                </a:solidFill>
                <a:latin typeface="Calibri"/>
              </a:rPr>
              <a:t>Backend:  cd backend &amp;&amp; ../.venv/bin/python -m uvicorn server:app --port 8000  →  http://localhost:8000.  CLI:  .venv/bin/python backend/atlas_cli.py scan corpus/estate.  Dev console:  cd frontend &amp;&amp; npm run dev  →  :5174 with /api proxied.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D6F81"/>
                </a:solidFill>
                <a:latin typeface="Consolas"/>
              </a:defRPr>
            </a:pPr>
            <a:r>
              <a:t>Quantum Atlas  ·  SIH 26164 (NTRO) — ECDAT                                                              23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327648"/>
            <a:ext cx="11064240" cy="25400"/>
          </a:xfrm>
          <a:prstGeom prst="rect">
            <a:avLst/>
          </a:prstGeom>
          <a:solidFill>
            <a:srgbClr val="223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300" b="1">
                <a:solidFill>
                  <a:srgbClr val="3DDC84"/>
                </a:solidFill>
                <a:latin typeface="Consolas"/>
              </a:rPr>
              <a:t>QUANTUM ATLAS  ·  SIH 26164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4000" b="1">
                <a:solidFill>
                  <a:srgbClr val="E8EEF4"/>
                </a:solidFill>
                <a:latin typeface="Calibri"/>
              </a:rPr>
              <a:t>Evidence you can click.
Assumptions you can move.
A programme you can fund.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93A3B4"/>
                </a:solidFill>
                <a:latin typeface="Calibri"/>
              </a:rPr>
              <a:t>Thank you — questions and live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